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Parcelbee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Returns logistics for independent online stores</a:t>
            </a:r>
          </a:p>
          <a:p>
            <a:r>
              <a:rPr lang="en-GB" sz="2000" dirty="0"/>
              <a:t>Seed round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Returns are where small stores lose money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Independent Shopify and WooCommerce stores see 18 to 24% return rates on apparel.</a:t>
            </a:r>
          </a:p>
          <a:p>
            <a:r>
              <a:rPr lang="en-GB" sz="2000" dirty="0"/>
              <a:t>Each return costs the merchant $11 to $14 in labor, postage and restocking, and most are handled by the founder personally.</a:t>
            </a:r>
          </a:p>
          <a:p>
            <a:r>
              <a:rPr lang="en-GB" sz="2000" dirty="0"/>
              <a:t>Carriers offer consolidated returns to merchants shipping over 10,000 parcels a month. Nobody serves the store shipping 400.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What Parcelbee does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A returns portal the shopper uses, a QR label, and consolidated pickup from 140 drop points in the UK.</a:t>
            </a:r>
          </a:p>
          <a:p>
            <a:r>
              <a:rPr lang="en-GB" sz="2000" dirty="0"/>
              <a:t>We aggregate returns across our merchants into carrier volume, inspect at our hub in Leicester, and restock or resell on the merchant's behalf.</a:t>
            </a:r>
          </a:p>
          <a:p>
            <a:r>
              <a:rPr lang="en-GB" sz="2000" dirty="0"/>
              <a:t>Merchants pay per return. Shoppers get refunds in 48 hours instead of 10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Traction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£42k monthly revenue</a:t>
            </a:r>
          </a:p>
          <a:p>
            <a:r>
              <a:rPr lang="en-GB" sz="2000" dirty="0"/>
              <a:t>310 merchants on the platform</a:t>
            </a:r>
          </a:p>
          <a:p>
            <a:r>
              <a:rPr lang="en-GB" sz="2000" dirty="0"/>
              <a:t>9,800 returns processed last month</a:t>
            </a:r>
          </a:p>
          <a:p>
            <a:r>
              <a:rPr lang="en-GB" sz="2000" dirty="0"/>
              <a:t>Month-on-month growth of 22% over the last six months.</a:t>
            </a:r>
          </a:p>
          <a:p>
            <a:r>
              <a:rPr lang="en-GB" sz="2000" dirty="0"/>
              <a:t>Partnered with Royal Mail and Evri.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Business model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£3.90 per return plus £0.60 per item resold through our marketplace.</a:t>
            </a:r>
          </a:p>
          <a:p>
            <a:r>
              <a:rPr lang="en-GB" sz="2000" dirty="0"/>
              <a:t>Gross margin 38% today, 55% at 40,000 returns a month when the hub is fully utilised.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Market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£7B is spent on returns handling in the UK each year.</a:t>
            </a:r>
          </a:p>
          <a:p>
            <a:r>
              <a:rPr lang="en-GB" sz="2000" dirty="0"/>
              <a:t>The 120,000 independent stores shipping 100 to 2,000 parcels a month are our serviceable market: £520M a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Team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Ife Adeyemi, CEO. Ran operations for a 3PL serving 90 DTC brands; before that Ocado logistics.</a:t>
            </a:r>
          </a:p>
          <a:p>
            <a:r>
              <a:rPr lang="en-GB" sz="2000" dirty="0"/>
              <a:t>Sam Brecht, CTO. Built the returns module at a mid-market WMS vendor. Team of 14 including 8 hub staff.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sz="3600" b="1" dirty="0"/>
              <a:t>Raise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000" dirty="0"/>
              <a:t>Raising £1.8M seed to open a second hub in Manchester, build the resale marketplace and hire a merchant sales team of three.</a:t>
            </a:r>
          </a:p>
          <a:p>
            <a:r>
              <a:rPr lang="en-GB" sz="2000" dirty="0"/>
              <a:t>parcelbee.co.uk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ysClr val="windowText" lastClr="000000"/>
      </a:dk1>
      <a:lt1>
        <a:sysClr val="window" lastClr="FFFFFF"/>
      </a:lt1>
      <a:dk2>
        <a:srgbClr val="14213D"/>
      </a:dk2>
      <a:lt2>
        <a:srgbClr val="F2F2F2"/>
      </a:lt2>
      <a:accent1>
        <a:srgbClr val="14213D"/>
      </a:accent1>
      <a:accent2>
        <a:srgbClr val="C8742A"/>
      </a:accent2>
      <a:accent3>
        <a:srgbClr val="5B6170"/>
      </a:accent3>
      <a:accent4>
        <a:srgbClr val="8A8F9C"/>
      </a:accent4>
      <a:accent5>
        <a:srgbClr val="2D7A4F"/>
      </a:accent5>
      <a:accent6>
        <a:srgbClr val="B4231F"/>
      </a:accent6>
      <a:hlink>
        <a:srgbClr val="1F2A44"/>
      </a:hlink>
      <a:folHlink>
        <a:srgbClr val="5B6170"/>
      </a:folHlink>
    </a:clrScheme>
    <a:fontScheme name="Plain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